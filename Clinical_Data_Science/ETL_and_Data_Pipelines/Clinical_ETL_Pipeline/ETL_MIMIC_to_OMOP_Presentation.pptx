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58" r:id="rId5"/>
    <p:sldId id="264" r:id="rId6"/>
    <p:sldId id="259" r:id="rId7"/>
    <p:sldId id="265" r:id="rId8"/>
    <p:sldId id="260" r:id="rId9"/>
    <p:sldId id="261" r:id="rId10"/>
    <p:sldId id="267" r:id="rId11"/>
    <p:sldId id="262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ETL Process: Transforming MIMIC-III Data to OMOP CDM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Design, SQL Logic, and Quality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41157"/>
          </a:xfrm>
        </p:spPr>
        <p:txBody>
          <a:bodyPr/>
          <a:lstStyle/>
          <a:p>
            <a:r>
              <a:rPr dirty="0"/>
              <a:t>Objective:</a:t>
            </a:r>
          </a:p>
          <a:p>
            <a:r>
              <a:rPr dirty="0"/>
              <a:t>• Transform MIMIC-III clinical data (DIAGNOSES_ICD) into OMOP CONDITION_OCCURRENCE.</a:t>
            </a:r>
          </a:p>
          <a:p>
            <a:endParaRPr dirty="0"/>
          </a:p>
          <a:p>
            <a:r>
              <a:rPr dirty="0"/>
              <a:t>Target Table: CONDITION_OCCURRENCE</a:t>
            </a:r>
          </a:p>
          <a:p>
            <a:r>
              <a:rPr dirty="0"/>
              <a:t>Source Tables: DIAGNOSES_ICD, ADMISSIONS, PATIENTS, ICUSTAYS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FAB9DF-4988-1139-0F93-D02A26BBBFFF}"/>
              </a:ext>
            </a:extLst>
          </p:cNvPr>
          <p:cNvSpPr txBox="1"/>
          <p:nvPr/>
        </p:nvSpPr>
        <p:spPr>
          <a:xfrm>
            <a:off x="771071" y="1350058"/>
            <a:ext cx="804635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dirty="0"/>
              <a:t>Main Steps:</a:t>
            </a:r>
          </a:p>
          <a:p>
            <a:r>
              <a:rPr lang="en-GB" sz="4000" dirty="0"/>
              <a:t>1. Extract source data</a:t>
            </a:r>
          </a:p>
          <a:p>
            <a:r>
              <a:rPr lang="en-GB" sz="4000" dirty="0"/>
              <a:t>2. Map fields to OMOP schema</a:t>
            </a:r>
          </a:p>
          <a:p>
            <a:r>
              <a:rPr lang="en-GB" sz="4000" dirty="0"/>
              <a:t>3. Transform using SQL</a:t>
            </a:r>
          </a:p>
          <a:p>
            <a:r>
              <a:rPr lang="en-GB" sz="4000" dirty="0"/>
              <a:t>4. Validate with Data Quality (DQ) checks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10983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Source to Target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OMOP Field | MIMIC Source | Logic / </a:t>
            </a:r>
            <a:r>
              <a:rPr dirty="0" err="1"/>
              <a:t>Derivatio</a:t>
            </a:r>
            <a:r>
              <a:rPr lang="en-GB" dirty="0"/>
              <a:t>n</a:t>
            </a:r>
            <a:endParaRPr dirty="0"/>
          </a:p>
          <a:p>
            <a:r>
              <a:rPr dirty="0" err="1"/>
              <a:t>person_id</a:t>
            </a:r>
            <a:r>
              <a:rPr dirty="0"/>
              <a:t> | </a:t>
            </a:r>
            <a:r>
              <a:rPr dirty="0" err="1"/>
              <a:t>subject_id</a:t>
            </a:r>
            <a:r>
              <a:rPr dirty="0"/>
              <a:t> | Map via PERSON table</a:t>
            </a:r>
          </a:p>
          <a:p>
            <a:r>
              <a:rPr dirty="0" err="1"/>
              <a:t>visit_occurrence_id</a:t>
            </a:r>
            <a:r>
              <a:rPr dirty="0"/>
              <a:t> | </a:t>
            </a:r>
            <a:r>
              <a:rPr dirty="0" err="1"/>
              <a:t>hadm_id</a:t>
            </a:r>
            <a:r>
              <a:rPr dirty="0"/>
              <a:t> | Map via VISIT_OCCURRENCE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1E1A80-F47C-2830-BA71-31CDA125D4F6}"/>
              </a:ext>
            </a:extLst>
          </p:cNvPr>
          <p:cNvSpPr txBox="1"/>
          <p:nvPr/>
        </p:nvSpPr>
        <p:spPr>
          <a:xfrm>
            <a:off x="344714" y="1041124"/>
            <a:ext cx="85815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 err="1"/>
              <a:t>condition_source_value</a:t>
            </a:r>
            <a:r>
              <a:rPr lang="en-GB" sz="3600" dirty="0"/>
              <a:t> | icd9_code | Raw diagnosis code</a:t>
            </a:r>
          </a:p>
          <a:p>
            <a:r>
              <a:rPr lang="en-GB" sz="3600" dirty="0" err="1"/>
              <a:t>condition_concept_id</a:t>
            </a:r>
            <a:r>
              <a:rPr lang="en-GB" sz="3600" dirty="0"/>
              <a:t> | icd9_code | ICD9 → SNOMED using OMOP vocab</a:t>
            </a:r>
          </a:p>
          <a:p>
            <a:r>
              <a:rPr lang="en-GB" sz="3600" dirty="0" err="1"/>
              <a:t>condition_start_date</a:t>
            </a:r>
            <a:r>
              <a:rPr lang="en-GB" sz="3600" dirty="0"/>
              <a:t> | </a:t>
            </a:r>
            <a:r>
              <a:rPr lang="en-GB" sz="3600" dirty="0" err="1"/>
              <a:t>admittime</a:t>
            </a:r>
            <a:r>
              <a:rPr lang="en-GB" sz="3600" dirty="0"/>
              <a:t> | From </a:t>
            </a:r>
            <a:r>
              <a:rPr lang="en-GB" sz="3600" dirty="0" err="1"/>
              <a:t>ADMISSIONS.admittime</a:t>
            </a:r>
            <a:endParaRPr lang="en-GB" sz="3600" dirty="0"/>
          </a:p>
          <a:p>
            <a:r>
              <a:rPr lang="en-GB" sz="3600" dirty="0" err="1"/>
              <a:t>condition_type_concept_id</a:t>
            </a:r>
            <a:r>
              <a:rPr lang="en-GB" sz="3600" dirty="0"/>
              <a:t> | N/A | 38000275 (EHR encounter diagnosis)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9574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SQL Transformation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WITH </a:t>
            </a:r>
            <a:r>
              <a:rPr dirty="0" err="1"/>
              <a:t>source_diag</a:t>
            </a:r>
            <a:r>
              <a:rPr dirty="0"/>
              <a:t> AS (</a:t>
            </a:r>
          </a:p>
          <a:p>
            <a:r>
              <a:rPr dirty="0"/>
              <a:t>  SELECT </a:t>
            </a:r>
            <a:r>
              <a:rPr dirty="0" err="1"/>
              <a:t>di.subject_id</a:t>
            </a:r>
            <a:r>
              <a:rPr dirty="0"/>
              <a:t>, </a:t>
            </a:r>
            <a:r>
              <a:rPr dirty="0" err="1"/>
              <a:t>di.hadm_id</a:t>
            </a:r>
            <a:r>
              <a:rPr dirty="0"/>
              <a:t>, di.icd9_code, </a:t>
            </a:r>
            <a:r>
              <a:rPr dirty="0" err="1"/>
              <a:t>adm.admittime</a:t>
            </a:r>
            <a:endParaRPr dirty="0"/>
          </a:p>
          <a:p>
            <a:r>
              <a:rPr dirty="0"/>
              <a:t>  FROM </a:t>
            </a:r>
            <a:r>
              <a:rPr dirty="0" err="1"/>
              <a:t>mimiciii.diagnoses_icd</a:t>
            </a:r>
            <a:r>
              <a:rPr dirty="0"/>
              <a:t> di</a:t>
            </a:r>
          </a:p>
          <a:p>
            <a:r>
              <a:rPr dirty="0"/>
              <a:t>  JOIN </a:t>
            </a:r>
            <a:r>
              <a:rPr dirty="0" err="1"/>
              <a:t>mimiciii.admissions</a:t>
            </a:r>
            <a:r>
              <a:rPr dirty="0"/>
              <a:t> </a:t>
            </a:r>
            <a:r>
              <a:rPr dirty="0" err="1"/>
              <a:t>adm</a:t>
            </a:r>
            <a:r>
              <a:rPr dirty="0"/>
              <a:t> ON </a:t>
            </a:r>
            <a:r>
              <a:rPr dirty="0" err="1"/>
              <a:t>di.hadm_id</a:t>
            </a:r>
            <a:r>
              <a:rPr dirty="0"/>
              <a:t> = </a:t>
            </a:r>
            <a:r>
              <a:rPr dirty="0" err="1"/>
              <a:t>adm.hadm_id</a:t>
            </a:r>
            <a:endParaRPr dirty="0"/>
          </a:p>
          <a:p>
            <a:r>
              <a:rPr dirty="0"/>
              <a:t>),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90A47C-8B93-5237-D4A2-9135FFB84593}"/>
              </a:ext>
            </a:extLst>
          </p:cNvPr>
          <p:cNvSpPr txBox="1"/>
          <p:nvPr/>
        </p:nvSpPr>
        <p:spPr>
          <a:xfrm>
            <a:off x="294821" y="269411"/>
            <a:ext cx="9130393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Mapped AS (SELECT </a:t>
            </a:r>
            <a:r>
              <a:rPr lang="en-GB" sz="3200" dirty="0" err="1"/>
              <a:t>sd.subject_id</a:t>
            </a:r>
            <a:r>
              <a:rPr lang="en-GB" sz="3200" dirty="0"/>
              <a:t>, </a:t>
            </a:r>
            <a:r>
              <a:rPr lang="en-GB" sz="3200" dirty="0" err="1"/>
              <a:t>sd.hadm_id</a:t>
            </a:r>
            <a:r>
              <a:rPr lang="en-GB" sz="3200" dirty="0"/>
              <a:t>, sd.icd9_code,</a:t>
            </a:r>
          </a:p>
          <a:p>
            <a:r>
              <a:rPr lang="en-GB" sz="3200" dirty="0"/>
              <a:t>         </a:t>
            </a:r>
            <a:r>
              <a:rPr lang="en-GB" sz="3200" dirty="0" err="1"/>
              <a:t>pm.person_id</a:t>
            </a:r>
            <a:r>
              <a:rPr lang="en-GB" sz="3200" dirty="0"/>
              <a:t>, </a:t>
            </a:r>
            <a:r>
              <a:rPr lang="en-GB" sz="3200" dirty="0" err="1"/>
              <a:t>vm.visit_occurrence_id</a:t>
            </a:r>
            <a:r>
              <a:rPr lang="en-GB" sz="3200" dirty="0"/>
              <a:t>,</a:t>
            </a:r>
          </a:p>
          <a:p>
            <a:r>
              <a:rPr lang="en-GB" sz="3200" dirty="0"/>
              <a:t>         </a:t>
            </a:r>
            <a:r>
              <a:rPr lang="en-GB" sz="3200" dirty="0" err="1"/>
              <a:t>sd.admittime</a:t>
            </a:r>
            <a:r>
              <a:rPr lang="en-GB" sz="3200" dirty="0"/>
              <a:t> AS </a:t>
            </a:r>
            <a:r>
              <a:rPr lang="en-GB" sz="3200" dirty="0" err="1"/>
              <a:t>condition_start_date</a:t>
            </a:r>
            <a:r>
              <a:rPr lang="en-GB" sz="3200" dirty="0"/>
              <a:t>,</a:t>
            </a:r>
          </a:p>
          <a:p>
            <a:r>
              <a:rPr lang="en-GB" sz="3200" dirty="0"/>
              <a:t>         38000275 AS </a:t>
            </a:r>
            <a:r>
              <a:rPr lang="en-GB" sz="3200" dirty="0" err="1"/>
              <a:t>condition_type_concept_id</a:t>
            </a:r>
            <a:endParaRPr lang="en-GB" sz="3200" dirty="0"/>
          </a:p>
          <a:p>
            <a:r>
              <a:rPr lang="en-GB" sz="3200" dirty="0"/>
              <a:t>  FROM </a:t>
            </a:r>
            <a:r>
              <a:rPr lang="en-GB" sz="3200" dirty="0" err="1"/>
              <a:t>source_diag</a:t>
            </a:r>
            <a:r>
              <a:rPr lang="en-GB" sz="3200" dirty="0"/>
              <a:t> </a:t>
            </a:r>
            <a:r>
              <a:rPr lang="en-GB" sz="3200" dirty="0" err="1"/>
              <a:t>sd</a:t>
            </a:r>
            <a:endParaRPr lang="en-GB" sz="3200" dirty="0"/>
          </a:p>
          <a:p>
            <a:r>
              <a:rPr lang="en-GB" sz="3200" dirty="0"/>
              <a:t>  LEFT JOIN </a:t>
            </a:r>
            <a:r>
              <a:rPr lang="en-GB" sz="3200" dirty="0" err="1"/>
              <a:t>omop.person</a:t>
            </a:r>
            <a:r>
              <a:rPr lang="en-GB" sz="3200" dirty="0"/>
              <a:t> pm ON </a:t>
            </a:r>
            <a:r>
              <a:rPr lang="en-GB" sz="3200" dirty="0" err="1"/>
              <a:t>pm.person_source_value</a:t>
            </a:r>
            <a:r>
              <a:rPr lang="en-GB" sz="3200" dirty="0"/>
              <a:t> = </a:t>
            </a:r>
            <a:r>
              <a:rPr lang="en-GB" sz="3200" dirty="0" err="1"/>
              <a:t>sd.subject_id</a:t>
            </a:r>
            <a:endParaRPr lang="en-GB" sz="3200" dirty="0"/>
          </a:p>
          <a:p>
            <a:r>
              <a:rPr lang="en-GB" sz="3200" dirty="0"/>
              <a:t>  LEFT JOIN </a:t>
            </a:r>
            <a:r>
              <a:rPr lang="en-GB" sz="3200" dirty="0" err="1"/>
              <a:t>omop.visit_occurrence</a:t>
            </a:r>
            <a:r>
              <a:rPr lang="en-GB" sz="3200" dirty="0"/>
              <a:t> </a:t>
            </a:r>
            <a:r>
              <a:rPr lang="en-GB" sz="3200" dirty="0" err="1"/>
              <a:t>vm</a:t>
            </a:r>
            <a:r>
              <a:rPr lang="en-GB" sz="3200" dirty="0"/>
              <a:t> ON </a:t>
            </a:r>
            <a:r>
              <a:rPr lang="en-GB" sz="3200" dirty="0" err="1"/>
              <a:t>vm.visit_source_value</a:t>
            </a:r>
            <a:r>
              <a:rPr lang="en-GB" sz="3200" dirty="0"/>
              <a:t> = </a:t>
            </a:r>
            <a:r>
              <a:rPr lang="en-GB" sz="3200" dirty="0" err="1"/>
              <a:t>sd.hadm_id</a:t>
            </a:r>
            <a:endParaRPr lang="en-GB" sz="3200" dirty="0"/>
          </a:p>
          <a:p>
            <a:r>
              <a:rPr lang="en-GB" sz="3200" dirty="0"/>
              <a:t>)</a:t>
            </a:r>
          </a:p>
          <a:p>
            <a:r>
              <a:rPr lang="en-GB" sz="3200" dirty="0"/>
              <a:t>SELECT * FROM mapped;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6409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Data Quality &amp; Validation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Key DQ Queries:</a:t>
            </a:r>
          </a:p>
          <a:p>
            <a:r>
              <a:rPr dirty="0"/>
              <a:t>• Count rows before and after ETL</a:t>
            </a:r>
          </a:p>
          <a:p>
            <a:r>
              <a:rPr dirty="0"/>
              <a:t>• Check missing </a:t>
            </a:r>
            <a:r>
              <a:rPr dirty="0" err="1"/>
              <a:t>person_id</a:t>
            </a:r>
            <a:r>
              <a:rPr dirty="0"/>
              <a:t> / </a:t>
            </a:r>
            <a:r>
              <a:rPr dirty="0" err="1"/>
              <a:t>visit_occurrence_id</a:t>
            </a:r>
            <a:endParaRPr dirty="0"/>
          </a:p>
          <a:p>
            <a:r>
              <a:rPr dirty="0"/>
              <a:t>• Mapping completeness (ICD9 → SNOMED)</a:t>
            </a:r>
          </a:p>
          <a:p>
            <a:r>
              <a:rPr dirty="0"/>
              <a:t>• Referential integrity between PERSON and VISIT_OCCURRENCE</a:t>
            </a:r>
          </a:p>
          <a:p>
            <a:r>
              <a:rPr dirty="0"/>
              <a:t>• Duplicate or date anomalies</a:t>
            </a:r>
            <a:endParaRPr lang="en-GB" dirty="0"/>
          </a:p>
          <a:p>
            <a:endParaRPr lang="en-GB" dirty="0"/>
          </a:p>
          <a:p>
            <a:r>
              <a:rPr lang="en-GB" dirty="0"/>
              <a:t>Example:</a:t>
            </a:r>
          </a:p>
          <a:p>
            <a:r>
              <a:rPr lang="en-GB" dirty="0"/>
              <a:t>SELECT COUNT(*) FROM </a:t>
            </a:r>
            <a:r>
              <a:rPr lang="en-GB" dirty="0" err="1"/>
              <a:t>condition_occurrence</a:t>
            </a:r>
            <a:r>
              <a:rPr lang="en-GB" dirty="0"/>
              <a:t>;</a:t>
            </a:r>
          </a:p>
          <a:p>
            <a:r>
              <a:rPr lang="en-GB" dirty="0"/>
              <a:t>SELECT COUNT(*) FROM staging WHERE </a:t>
            </a:r>
            <a:r>
              <a:rPr lang="en-GB" dirty="0" err="1"/>
              <a:t>person_id</a:t>
            </a:r>
            <a:r>
              <a:rPr lang="en-GB" dirty="0"/>
              <a:t> IS NULL;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Testing &amp; Packaging for Submission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Deliverables:</a:t>
            </a:r>
          </a:p>
          <a:p>
            <a:r>
              <a:rPr dirty="0"/>
              <a:t>• ETL SQL Scripts: profiling, staging, insertion, DQ checks</a:t>
            </a:r>
          </a:p>
          <a:p>
            <a:r>
              <a:rPr dirty="0"/>
              <a:t>• Sample output: 10 traced rows (source → target)</a:t>
            </a:r>
          </a:p>
          <a:p>
            <a:r>
              <a:rPr dirty="0"/>
              <a:t>• DQ summary (mapping % and missing IDs)</a:t>
            </a:r>
          </a:p>
          <a:p>
            <a:r>
              <a:rPr dirty="0"/>
              <a:t>• README with assumptions, mappings, and data lineage</a:t>
            </a:r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F4943F-0EA1-8679-E4CB-5C84A6516EB2}"/>
              </a:ext>
            </a:extLst>
          </p:cNvPr>
          <p:cNvSpPr txBox="1"/>
          <p:nvPr/>
        </p:nvSpPr>
        <p:spPr>
          <a:xfrm>
            <a:off x="659780" y="1191891"/>
            <a:ext cx="697183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/>
              <a:t>Execution Order:</a:t>
            </a:r>
          </a:p>
          <a:p>
            <a:r>
              <a:rPr lang="en-GB" sz="3600" dirty="0"/>
              <a:t>1. Profile source tables</a:t>
            </a:r>
          </a:p>
          <a:p>
            <a:r>
              <a:rPr lang="en-GB" sz="3600" dirty="0"/>
              <a:t>2. Run staging transformation</a:t>
            </a:r>
          </a:p>
          <a:p>
            <a:r>
              <a:rPr lang="en-GB" sz="3600" dirty="0"/>
              <a:t>3. Validate results</a:t>
            </a:r>
          </a:p>
          <a:p>
            <a:r>
              <a:rPr lang="en-GB" sz="3600" dirty="0"/>
              <a:t>4. Insert into OMOP schema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80657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✓ MIMIC-III diagnoses transformed into OMOP CDM structure</a:t>
            </a:r>
          </a:p>
          <a:p>
            <a:r>
              <a:rPr dirty="0"/>
              <a:t>✓ ICD9 mapped to SNOMED via OMOP vocab</a:t>
            </a:r>
          </a:p>
          <a:p>
            <a:r>
              <a:rPr dirty="0"/>
              <a:t>✓ Ensures data consistency and interoperability</a:t>
            </a:r>
          </a:p>
          <a:p>
            <a:r>
              <a:rPr dirty="0"/>
              <a:t>✓ SQL-based ETL with robust validation checks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C39C3C-BAD5-350B-27B7-AF03FCC38F3F}"/>
              </a:ext>
            </a:extLst>
          </p:cNvPr>
          <p:cNvSpPr txBox="1"/>
          <p:nvPr/>
        </p:nvSpPr>
        <p:spPr>
          <a:xfrm>
            <a:off x="498928" y="1601764"/>
            <a:ext cx="814614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/>
              <a:t>Next Steps:</a:t>
            </a:r>
          </a:p>
          <a:p>
            <a:r>
              <a:rPr lang="en-GB" sz="3600" dirty="0"/>
              <a:t>• Expand ETL to other domains (Procedures, Labs)</a:t>
            </a:r>
          </a:p>
          <a:p>
            <a:r>
              <a:rPr lang="en-GB" sz="3600" dirty="0"/>
              <a:t>• Automate with Airflow/</a:t>
            </a:r>
            <a:r>
              <a:rPr lang="en-GB" sz="3600" dirty="0" err="1"/>
              <a:t>dbt</a:t>
            </a:r>
            <a:endParaRPr lang="en-GB" sz="3600" dirty="0"/>
          </a:p>
          <a:p>
            <a:r>
              <a:rPr lang="en-GB" sz="3600" dirty="0"/>
              <a:t>• Integrate QA metrics into ETL logs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51708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ETL Process: Transforming MIMIC-III Data to OMOP CDM</vt:lpstr>
      <vt:lpstr>1. Overview</vt:lpstr>
      <vt:lpstr>PowerPoint Presentation</vt:lpstr>
      <vt:lpstr>2. Source to Target Mapping</vt:lpstr>
      <vt:lpstr>PowerPoint Presentation</vt:lpstr>
      <vt:lpstr>3. SQL Transformation Example</vt:lpstr>
      <vt:lpstr>PowerPoint Presentation</vt:lpstr>
      <vt:lpstr>4. Data Quality &amp; Validation Checks</vt:lpstr>
      <vt:lpstr>5. Testing &amp; Packaging for Submission</vt:lpstr>
      <vt:lpstr>PowerPoint Presentation</vt:lpstr>
      <vt:lpstr>6. Summary &amp; Key Takeaways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ETL Process: Transforming MIMIC-III Data to OMOP CDM</dc:title>
  <dc:subject/>
  <dc:creator/>
  <cp:keywords/>
  <dc:description>generated using python-pptx</dc:description>
  <cp:lastModifiedBy>RAM PRASAD</cp:lastModifiedBy>
  <cp:revision>2</cp:revision>
  <dcterms:created xsi:type="dcterms:W3CDTF">2013-01-27T09:14:16Z</dcterms:created>
  <dcterms:modified xsi:type="dcterms:W3CDTF">2025-11-04T09:26:49Z</dcterms:modified>
  <cp:category/>
</cp:coreProperties>
</file>