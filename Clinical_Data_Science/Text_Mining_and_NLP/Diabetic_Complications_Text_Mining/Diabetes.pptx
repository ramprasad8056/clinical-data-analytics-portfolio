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70" r:id="rId3"/>
    <p:sldId id="271" r:id="rId4"/>
    <p:sldId id="27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48"/>
    <p:restoredTop sz="94643"/>
  </p:normalViewPr>
  <p:slideViewPr>
    <p:cSldViewPr snapToGrid="0" snapToObjects="1">
      <p:cViewPr>
        <p:scale>
          <a:sx n="77" d="100"/>
          <a:sy n="77" d="100"/>
        </p:scale>
        <p:origin x="144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5D1C-D8FE-6B48-84A4-FE914B65D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0A27D-F438-F042-B05F-48384280F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DBCF-7B0B-7947-A192-487BEF998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B4E87-80B8-FE48-8722-CF91FF67B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91B9-41D6-444D-8C9C-2117662E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8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85676-111B-764E-A078-D36317E0B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32949-7385-D94F-9CC3-3FF735629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3904F-B47E-7046-A3EE-52A03CD4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D393D-8751-B74B-91CC-8FEC4D617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A7E9A-9608-1242-B230-2DE63D9B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9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0C845-BFD8-F14B-B9F3-9143818C5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D081C-7F9B-6546-8275-0DD0AAB58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5D5D4-DB55-8A4E-98EF-224E2696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0552E-28F3-2B43-B931-012E2CC6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238AA-473F-854B-A386-71D30485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56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4B7A-15EC-FD48-ACD4-757FAECAD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EE78C-E14D-5F41-834D-26ABA4A00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92DAD-5132-C642-B65B-5F99C0B48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5D278-65F0-EC45-90F2-104217E1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96449-A676-E145-B127-59A107BF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E6E24-B715-9447-A683-3C041FB2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48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1B30-884A-864F-9333-9A5104AEB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1FC14-89DD-EA4F-8B1D-F3931EADA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EAD36-F55C-4240-A5A3-5BD038A44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A04F3-3C79-254B-AA71-AD6151273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ECFA5-0A31-0046-AA05-92EE24AE5A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4C5AD-CAEA-DB4F-BB84-D6693A01C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0871C9-2EA5-9E44-91F8-FFAD4BFB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9DFCF-9740-CA4A-9811-EBB312BB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70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4B3BD-4612-0F4C-808A-7C2CE8666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B95DF2-F14A-1C4D-84C4-59C09112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374A0-2E9E-8E45-9EA7-02EBBD8A2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2D9EC-3A3A-E04A-A33E-15AFF7F1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15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34782E-E654-CD49-ADFF-1DCB485F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A76AD4-4B31-A941-A0D0-776B100B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5526E-D2D7-CD48-9F44-EA6BA5CB9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9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D7F9-34D8-8E4A-AC51-6699F4340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099BC-B80D-384B-A245-5307A9B3B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3BEBF-88A7-4848-9681-A589F3C53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65E09-FD76-4347-97E7-D4FD8974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067C6-7681-8249-AAAA-206062FE1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5A94D-D4C7-A743-8F12-5684B60B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3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0AEA4-0F00-2A4B-B9DF-81AD21387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A67F51-0CFA-484D-9E66-03C9EF35A5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0899C-3666-1D4E-8E48-31E4F2665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48107-5F68-784E-B5E2-F090A43A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12B4A-E9D0-8A47-9B43-5167CDA3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1450D-23C2-A340-AE8C-8C7A42B0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64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4FC25-6C07-F642-8F79-8CE330EDE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7C7DD2-5B03-004A-B9EB-089AA30C2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7520E-573A-C74B-89CE-25B3CA5A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854F3-9240-A84B-8E81-0E8A9EC42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46F-896E-0B40-9E1C-DE00A39C5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8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AE6260-EC27-AA41-A08B-04567D7799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745A0-C99B-2240-9E2A-CC2FAC787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2BA6D-020C-B34C-BB26-B9B41850E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9898-07BD-8B48-B9A9-D57151BAA00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7B313-A7EF-EA40-9620-CD84C6C7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E0A30-63B8-C348-BA2D-DEB0E9B5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D424B-C247-7843-A231-D8647B8C18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4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B59B6-AAE7-5C42-BCD1-F25238944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F440B-6C46-CA40-BDC8-9A611F93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21660-D490-F845-B98B-1CD18DED5A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C9898-07BD-8B48-B9A9-D57151BAA00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C8980-9A9B-EC4C-B1F3-6DE28545B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1A83D-0A17-504E-83DB-DD7D8CC09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D424B-C247-7843-A231-D8647B8C18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8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353BA-BCDD-EAD8-486C-A6C52023E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BF210-BE5B-E685-C782-CEA3A26A2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4176C-30EA-C51D-48D0-3EE00960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3499"/>
          </a:xfrm>
        </p:spPr>
        <p:txBody>
          <a:bodyPr>
            <a:normAutofit/>
          </a:bodyPr>
          <a:lstStyle/>
          <a:p>
            <a:r>
              <a:rPr lang="en-US" sz="2000" b="1" dirty="0"/>
              <a:t>A. Note Section Approach – Section Header Exploration</a:t>
            </a:r>
          </a:p>
          <a:p>
            <a:pPr lvl="1"/>
            <a:r>
              <a:rPr lang="en-US" dirty="0"/>
              <a:t>Past</a:t>
            </a:r>
            <a:r>
              <a:rPr lang="en-US" sz="1600" dirty="0"/>
              <a:t> </a:t>
            </a:r>
            <a:r>
              <a:rPr lang="en-US" dirty="0"/>
              <a:t>medical history Section headings</a:t>
            </a:r>
          </a:p>
          <a:p>
            <a:pPr lvl="1"/>
            <a:r>
              <a:rPr lang="en-US" dirty="0"/>
              <a:t>Read 10 records, tried regex, reviewed 10 more records that didn’t match at first, tried regex, read 20 records and realized that I wasn’t finding a lot of new headers and quit.</a:t>
            </a:r>
          </a:p>
          <a:p>
            <a:pPr lvl="3"/>
            <a:r>
              <a:rPr lang="en-US" sz="2000" dirty="0"/>
              <a:t>Past Medical History</a:t>
            </a:r>
          </a:p>
          <a:p>
            <a:pPr lvl="3"/>
            <a:r>
              <a:rPr lang="en-US" sz="2000" dirty="0"/>
              <a:t>Past Medical/Surgical History</a:t>
            </a:r>
          </a:p>
          <a:p>
            <a:pPr lvl="3"/>
            <a:r>
              <a:rPr lang="en-US" sz="2000" dirty="0"/>
              <a:t>Previous Medical History</a:t>
            </a:r>
          </a:p>
          <a:p>
            <a:pPr lvl="3"/>
            <a:r>
              <a:rPr lang="en-US" sz="2000" dirty="0"/>
              <a:t>Also tried PMH (didn’t add value)</a:t>
            </a:r>
          </a:p>
          <a:p>
            <a:r>
              <a:rPr lang="en-US" sz="2000" b="1" dirty="0"/>
              <a:t>B/C. Note Section Approach – Section Header Exploration</a:t>
            </a:r>
          </a:p>
          <a:p>
            <a:pPr lvl="1"/>
            <a:r>
              <a:rPr lang="en-US" sz="2000" dirty="0"/>
              <a:t>Past medical history Section headings</a:t>
            </a:r>
          </a:p>
          <a:p>
            <a:pPr lvl="2"/>
            <a:r>
              <a:rPr lang="en-US" dirty="0"/>
              <a:t>Read 10 records, tried regex, reviewed 10 more records that didn’t match at first, tried regex, read 20 records and realized that I wasn’t finding a lot of new headers and quit.</a:t>
            </a:r>
          </a:p>
          <a:p>
            <a:pPr lvl="3"/>
            <a:r>
              <a:rPr lang="en-US" sz="2000" dirty="0"/>
              <a:t>Past Medical History, Past Medical/Surgical History, Previous Medical History</a:t>
            </a:r>
          </a:p>
        </p:txBody>
      </p:sp>
    </p:spTree>
    <p:extLst>
      <p:ext uri="{BB962C8B-B14F-4D97-AF65-F5344CB8AC3E}">
        <p14:creationId xmlns:p14="http://schemas.microsoft.com/office/powerpoint/2010/main" val="2028892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C99D1-A706-7048-BABD-28514B08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EAC49-B2B6-4B4D-9311-5D3F4B130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600" b="1" dirty="0"/>
              <a:t>Regular Expression 1 (baseline)</a:t>
            </a:r>
          </a:p>
          <a:p>
            <a:pPr lvl="1"/>
            <a:r>
              <a:rPr lang="en-US" sz="1600" b="1" dirty="0"/>
              <a:t>Neuropathy</a:t>
            </a:r>
            <a:r>
              <a:rPr lang="en-US" sz="1600" dirty="0"/>
              <a:t>: </a:t>
            </a:r>
            <a:r>
              <a:rPr lang="en-US" sz="16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(?</a:t>
            </a:r>
            <a:r>
              <a:rPr lang="en-US" sz="1600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)\b(</a:t>
            </a:r>
            <a:r>
              <a:rPr lang="en-US" sz="1600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neuropathy|paresthesia|tingling|numbness</a:t>
            </a:r>
            <a:r>
              <a:rPr lang="en-US" sz="16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)\b</a:t>
            </a:r>
          </a:p>
          <a:p>
            <a:pPr lvl="2"/>
            <a:r>
              <a:rPr lang="en-US" sz="1600" b="1" dirty="0"/>
              <a:t>Explanation:</a:t>
            </a:r>
            <a:r>
              <a:rPr lang="en-US" sz="1600" dirty="0"/>
              <a:t> Finds diabetic neuropathy and related symptoms such as paresthesia, tingling, and numbness.</a:t>
            </a:r>
            <a:r>
              <a:rPr lang="ja-JP" altLang="en-US" sz="1600"/>
              <a:t>　</a:t>
            </a:r>
            <a:r>
              <a:rPr lang="en-US" sz="1600" dirty="0"/>
              <a:t>(?</a:t>
            </a:r>
            <a:r>
              <a:rPr lang="en-US" sz="1600" dirty="0" err="1"/>
              <a:t>i</a:t>
            </a:r>
            <a:r>
              <a:rPr lang="en-US" sz="1600" dirty="0"/>
              <a:t>) makes the search case-insensitive, and \b ensures matching of complete words only.</a:t>
            </a:r>
          </a:p>
          <a:p>
            <a:r>
              <a:rPr lang="en-US" sz="1600" b="1" dirty="0"/>
              <a:t>Regular Expression 2 (combined pattern)</a:t>
            </a:r>
          </a:p>
          <a:p>
            <a:pPr lvl="1"/>
            <a:r>
              <a:rPr lang="en-US" sz="1600" b="1" dirty="0"/>
              <a:t>Neuropathy, Nephropathy, and Retinopathy: </a:t>
            </a:r>
            <a:r>
              <a:rPr lang="en-US" sz="16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(?</a:t>
            </a:r>
            <a:r>
              <a:rPr lang="en-US" sz="1600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)\b(neuropathy|nephropathy|retinopathy|paresthesia|tingling|numbness|proteinuria|ckd|dialysis|macular </a:t>
            </a:r>
            <a:r>
              <a:rPr lang="en-US" sz="1600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edema|photocoagulation</a:t>
            </a:r>
            <a:r>
              <a:rPr lang="en-US" sz="16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)\b</a:t>
            </a:r>
          </a:p>
          <a:p>
            <a:pPr lvl="2"/>
            <a:r>
              <a:rPr lang="en-US" sz="1600" b="1" dirty="0"/>
              <a:t>Explanation</a:t>
            </a:r>
            <a:r>
              <a:rPr lang="en-US" sz="1600" dirty="0"/>
              <a:t>: Detects the three main diabetic complications, along with related symptoms and treatment terms (e.g., tingling, dialysis, and macular edema).</a:t>
            </a:r>
          </a:p>
          <a:p>
            <a:r>
              <a:rPr lang="en-US" sz="1600" b="1" dirty="0"/>
              <a:t>Regular Expression 3 (final refined pattern)</a:t>
            </a:r>
          </a:p>
          <a:p>
            <a:pPr lvl="1"/>
            <a:r>
              <a:rPr lang="en-US" sz="1600" b="1" dirty="0"/>
              <a:t>Neuropathy: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neuropath(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y|ic|ies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paresthesia(s)?,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tingl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e|ing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numb(ness)?</a:t>
            </a:r>
          </a:p>
          <a:p>
            <a:pPr lvl="1"/>
            <a:r>
              <a:rPr lang="en-US" sz="1600" b="1" dirty="0"/>
              <a:t>Nephropathy: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nephropath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y|ic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proteinuria, albuminuria, microalbumin(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uria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)?,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ckd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esrd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dialysis, hemodialysis, peritoneal[[:space:]]+dialysis</a:t>
            </a:r>
          </a:p>
          <a:p>
            <a:pPr lvl="1"/>
            <a:r>
              <a:rPr lang="en-US" sz="1600" b="1" dirty="0"/>
              <a:t>Retinopathy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retinopath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y|ic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npdr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macular[[:space:]]*[-]?[[:space:]]*edema, photocoagulation,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panretinal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[[:space:]]+photocoagulation,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prp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1600" b="1" dirty="0"/>
              <a:t>Explanation</a:t>
            </a:r>
            <a:r>
              <a:rPr lang="en-US" sz="1600" dirty="0"/>
              <a:t>: Covers abbreviations, plural and derivational forms, and spacing or hyphen variations to improve recall and flexibility in real-world text. This final refinement increases coverage of clinical variations while minimizing false negatives caused by abbreviation forms.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492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0FA0-E91B-B148-80AE-59F4706D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097B1-835D-7446-9143-ED82B32AB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Extraction Summary:</a:t>
            </a:r>
          </a:p>
          <a:p>
            <a:pPr lvl="1"/>
            <a:r>
              <a:rPr lang="en-US" sz="2000" dirty="0"/>
              <a:t>Extracted Past Medical History section for 141 notes</a:t>
            </a:r>
          </a:p>
          <a:p>
            <a:pPr lvl="1"/>
            <a:r>
              <a:rPr lang="en-US" sz="2000" dirty="0"/>
              <a:t>30 notes have neuropathy-related terms</a:t>
            </a:r>
          </a:p>
          <a:p>
            <a:pPr lvl="1"/>
            <a:r>
              <a:rPr lang="en-US" sz="2000" dirty="0"/>
              <a:t>14 notes have nephropathy-related terms</a:t>
            </a:r>
          </a:p>
          <a:p>
            <a:pPr lvl="1"/>
            <a:r>
              <a:rPr lang="en-US" sz="2000" dirty="0"/>
              <a:t>8 notes have retinopathy-related terms</a:t>
            </a:r>
          </a:p>
          <a:p>
            <a:r>
              <a:rPr lang="en-US" sz="2000" dirty="0"/>
              <a:t>Distribution of Mentions:</a:t>
            </a:r>
          </a:p>
          <a:p>
            <a:pPr lvl="1"/>
            <a:r>
              <a:rPr lang="en-US" sz="2000" dirty="0"/>
              <a:t>PMH headers present in 79 (56%) notes, absent in 62 (44%)</a:t>
            </a:r>
          </a:p>
          <a:p>
            <a:pPr lvl="1"/>
            <a:r>
              <a:rPr lang="en-US" sz="2000" dirty="0"/>
              <a:t>112 notes (79%) contained no mention of complications</a:t>
            </a:r>
          </a:p>
          <a:p>
            <a:pPr lvl="1"/>
            <a:r>
              <a:rPr lang="en-US" sz="2000" dirty="0"/>
              <a:t>Mentions appeared in: PMH (17), HPI (15), Assessment/Plan (25)</a:t>
            </a:r>
          </a:p>
          <a:p>
            <a:r>
              <a:rPr lang="en-US" sz="2000" dirty="0"/>
              <a:t>Confusion Matrix &amp; Metrics  </a:t>
            </a:r>
          </a:p>
          <a:p>
            <a:pPr lvl="1"/>
            <a:r>
              <a:rPr lang="en-US" sz="2000" dirty="0"/>
              <a:t>TP: 21  FP: 26  FN: 6  TN: 88  </a:t>
            </a:r>
          </a:p>
          <a:p>
            <a:pPr lvl="1"/>
            <a:r>
              <a:rPr lang="en-US" sz="2000" dirty="0"/>
              <a:t>Precision: 0.447  Recall: 0.778  F1: 0.568  </a:t>
            </a:r>
          </a:p>
          <a:p>
            <a:pPr lvl="1"/>
            <a:r>
              <a:rPr lang="en-US" sz="2000" dirty="0"/>
              <a:t>Rows joined: 141</a:t>
            </a:r>
          </a:p>
        </p:txBody>
      </p:sp>
    </p:spTree>
    <p:extLst>
      <p:ext uri="{BB962C8B-B14F-4D97-AF65-F5344CB8AC3E}">
        <p14:creationId xmlns:p14="http://schemas.microsoft.com/office/powerpoint/2010/main" val="466124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A0BF-58A2-914A-8051-9D553599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663A5-3CCA-4748-A688-20C3DEF8D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err="1"/>
              <a:t>Several</a:t>
            </a:r>
            <a:r>
              <a:rPr lang="fr-FR" dirty="0"/>
              <a:t> </a:t>
            </a:r>
            <a:r>
              <a:rPr lang="fr-FR" dirty="0" err="1"/>
              <a:t>clinical</a:t>
            </a:r>
            <a:r>
              <a:rPr lang="fr-FR" dirty="0"/>
              <a:t> notes </a:t>
            </a:r>
            <a:r>
              <a:rPr lang="fr-FR" dirty="0" err="1"/>
              <a:t>lacked</a:t>
            </a:r>
            <a:r>
              <a:rPr lang="fr-FR" dirty="0"/>
              <a:t> a Past </a:t>
            </a:r>
            <a:r>
              <a:rPr lang="fr-FR" dirty="0" err="1"/>
              <a:t>Medical</a:t>
            </a:r>
            <a:r>
              <a:rPr lang="fr-FR" dirty="0"/>
              <a:t> </a:t>
            </a:r>
            <a:r>
              <a:rPr lang="fr-FR" dirty="0" err="1"/>
              <a:t>History</a:t>
            </a:r>
            <a:r>
              <a:rPr lang="fr-FR" dirty="0"/>
              <a:t> section </a:t>
            </a:r>
            <a:r>
              <a:rPr lang="fr-FR" dirty="0" err="1"/>
              <a:t>altogether</a:t>
            </a:r>
            <a:r>
              <a:rPr lang="fr-FR" dirty="0"/>
              <a:t>, </a:t>
            </a:r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others</a:t>
            </a:r>
            <a:r>
              <a:rPr lang="fr-FR" dirty="0"/>
              <a:t> </a:t>
            </a:r>
            <a:r>
              <a:rPr lang="fr-FR" dirty="0" err="1"/>
              <a:t>documented</a:t>
            </a:r>
            <a:r>
              <a:rPr lang="fr-FR" dirty="0"/>
              <a:t> complications </a:t>
            </a:r>
            <a:r>
              <a:rPr lang="fr-FR" dirty="0" err="1"/>
              <a:t>exclusively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the </a:t>
            </a:r>
            <a:r>
              <a:rPr lang="fr-FR" dirty="0" err="1"/>
              <a:t>History</a:t>
            </a:r>
            <a:r>
              <a:rPr lang="fr-FR" dirty="0"/>
              <a:t> of </a:t>
            </a:r>
            <a:r>
              <a:rPr lang="fr-FR" dirty="0" err="1"/>
              <a:t>Present</a:t>
            </a:r>
            <a:r>
              <a:rPr lang="fr-FR" dirty="0"/>
              <a:t> </a:t>
            </a:r>
            <a:r>
              <a:rPr lang="fr-FR" dirty="0" err="1"/>
              <a:t>Illness</a:t>
            </a:r>
            <a:r>
              <a:rPr lang="fr-FR" dirty="0"/>
              <a:t> or </a:t>
            </a:r>
            <a:r>
              <a:rPr lang="fr-FR" dirty="0" err="1"/>
              <a:t>Assessment</a:t>
            </a:r>
            <a:r>
              <a:rPr lang="fr-FR" dirty="0"/>
              <a:t> and Plan sections.</a:t>
            </a:r>
          </a:p>
          <a:p>
            <a:r>
              <a:rPr lang="fr-FR" dirty="0"/>
              <a:t>The regex-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matching</a:t>
            </a:r>
            <a:r>
              <a:rPr lang="fr-FR" dirty="0"/>
              <a:t> </a:t>
            </a:r>
            <a:r>
              <a:rPr lang="fr-FR" dirty="0" err="1"/>
              <a:t>approach</a:t>
            </a:r>
            <a:r>
              <a:rPr lang="fr-FR" dirty="0"/>
              <a:t> </a:t>
            </a:r>
            <a:r>
              <a:rPr lang="fr-FR" dirty="0" err="1"/>
              <a:t>failed</a:t>
            </a:r>
            <a:r>
              <a:rPr lang="fr-FR" dirty="0"/>
              <a:t> to </a:t>
            </a:r>
            <a:r>
              <a:rPr lang="fr-FR" dirty="0" err="1"/>
              <a:t>identify</a:t>
            </a:r>
            <a:r>
              <a:rPr lang="fr-FR" dirty="0"/>
              <a:t> certain instances due to the </a:t>
            </a:r>
            <a:r>
              <a:rPr lang="fr-FR" dirty="0" err="1"/>
              <a:t>presence</a:t>
            </a:r>
            <a:r>
              <a:rPr lang="fr-FR" dirty="0"/>
              <a:t> of </a:t>
            </a:r>
            <a:r>
              <a:rPr lang="fr-FR" dirty="0" err="1"/>
              <a:t>negations</a:t>
            </a:r>
            <a:r>
              <a:rPr lang="fr-FR" dirty="0"/>
              <a:t> or </a:t>
            </a:r>
            <a:r>
              <a:rPr lang="fr-FR" dirty="0" err="1"/>
              <a:t>nuanced</a:t>
            </a:r>
            <a:r>
              <a:rPr lang="fr-FR" dirty="0"/>
              <a:t> </a:t>
            </a:r>
            <a:r>
              <a:rPr lang="fr-FR" dirty="0" err="1"/>
              <a:t>contextual</a:t>
            </a:r>
            <a:r>
              <a:rPr lang="fr-FR" dirty="0"/>
              <a:t> </a:t>
            </a:r>
            <a:r>
              <a:rPr lang="fr-FR" dirty="0" err="1"/>
              <a:t>phrasing</a:t>
            </a:r>
            <a:r>
              <a:rPr lang="fr-FR" dirty="0"/>
              <a:t> (e.g., “no </a:t>
            </a:r>
            <a:r>
              <a:rPr lang="fr-FR" dirty="0" err="1"/>
              <a:t>neuropathy</a:t>
            </a:r>
            <a:r>
              <a:rPr lang="fr-FR" dirty="0"/>
              <a:t>,” “</a:t>
            </a:r>
            <a:r>
              <a:rPr lang="fr-FR" dirty="0" err="1"/>
              <a:t>evidence</a:t>
            </a:r>
            <a:r>
              <a:rPr lang="fr-FR" dirty="0"/>
              <a:t> of </a:t>
            </a:r>
            <a:r>
              <a:rPr lang="fr-FR" dirty="0" err="1"/>
              <a:t>nephropathy</a:t>
            </a:r>
            <a:r>
              <a:rPr lang="fr-FR" dirty="0"/>
              <a:t>”).</a:t>
            </a:r>
          </a:p>
          <a:p>
            <a:r>
              <a:rPr lang="fr-FR" dirty="0" err="1"/>
              <a:t>Expanding</a:t>
            </a:r>
            <a:r>
              <a:rPr lang="fr-FR" dirty="0"/>
              <a:t> the </a:t>
            </a:r>
            <a:r>
              <a:rPr lang="fr-FR" dirty="0" err="1"/>
              <a:t>search</a:t>
            </a:r>
            <a:r>
              <a:rPr lang="fr-FR" dirty="0"/>
              <a:t> </a:t>
            </a:r>
            <a:r>
              <a:rPr lang="fr-FR" dirty="0" err="1"/>
              <a:t>window</a:t>
            </a:r>
            <a:r>
              <a:rPr lang="fr-FR" dirty="0"/>
              <a:t> and </a:t>
            </a:r>
            <a:r>
              <a:rPr lang="fr-FR" dirty="0" err="1"/>
              <a:t>integrating</a:t>
            </a:r>
            <a:r>
              <a:rPr lang="fr-FR" dirty="0"/>
              <a:t> explicit </a:t>
            </a:r>
            <a:r>
              <a:rPr lang="fr-FR" dirty="0" err="1"/>
              <a:t>negation</a:t>
            </a:r>
            <a:r>
              <a:rPr lang="fr-FR" dirty="0"/>
              <a:t> </a:t>
            </a:r>
            <a:r>
              <a:rPr lang="fr-FR" dirty="0" err="1"/>
              <a:t>detection</a:t>
            </a:r>
            <a:r>
              <a:rPr lang="fr-FR" dirty="0"/>
              <a:t> </a:t>
            </a:r>
            <a:r>
              <a:rPr lang="fr-FR" dirty="0" err="1"/>
              <a:t>mechanisms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enhance</a:t>
            </a:r>
            <a:r>
              <a:rPr lang="fr-FR" dirty="0"/>
              <a:t> </a:t>
            </a:r>
            <a:r>
              <a:rPr lang="fr-FR" dirty="0" err="1"/>
              <a:t>accuracy</a:t>
            </a:r>
            <a:r>
              <a:rPr lang="fr-FR" dirty="0"/>
              <a:t> in </a:t>
            </a:r>
            <a:r>
              <a:rPr lang="fr-FR" dirty="0" err="1"/>
              <a:t>subsequent</a:t>
            </a:r>
            <a:r>
              <a:rPr lang="fr-FR" dirty="0"/>
              <a:t> </a:t>
            </a:r>
            <a:r>
              <a:rPr lang="fr-FR" dirty="0" err="1"/>
              <a:t>iterations</a:t>
            </a:r>
            <a:r>
              <a:rPr lang="fr-FR" dirty="0"/>
              <a:t>.</a:t>
            </a:r>
          </a:p>
          <a:p>
            <a:r>
              <a:rPr lang="fr-FR" dirty="0"/>
              <a:t>The final F1 score of 0.57 </a:t>
            </a:r>
            <a:r>
              <a:rPr lang="fr-FR" dirty="0" err="1"/>
              <a:t>represents</a:t>
            </a:r>
            <a:r>
              <a:rPr lang="fr-FR" dirty="0"/>
              <a:t> a </a:t>
            </a:r>
            <a:r>
              <a:rPr lang="fr-FR" dirty="0" err="1"/>
              <a:t>balanced</a:t>
            </a:r>
            <a:r>
              <a:rPr lang="fr-FR" dirty="0"/>
              <a:t> </a:t>
            </a:r>
            <a:r>
              <a:rPr lang="fr-FR" dirty="0" err="1"/>
              <a:t>outcome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recall</a:t>
            </a:r>
            <a:r>
              <a:rPr lang="fr-FR" dirty="0"/>
              <a:t> </a:t>
            </a:r>
            <a:r>
              <a:rPr lang="fr-FR" dirty="0" err="1"/>
              <a:t>intentionally</a:t>
            </a:r>
            <a:r>
              <a:rPr lang="fr-FR" dirty="0"/>
              <a:t> </a:t>
            </a:r>
            <a:r>
              <a:rPr lang="fr-FR" dirty="0" err="1"/>
              <a:t>prioritized</a:t>
            </a:r>
            <a:r>
              <a:rPr lang="fr-FR" dirty="0"/>
              <a:t> over </a:t>
            </a:r>
            <a:r>
              <a:rPr lang="fr-FR" dirty="0" err="1"/>
              <a:t>precision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3654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602</Words>
  <Application>Microsoft Macintosh PowerPoint</Application>
  <PresentationFormat>Grand écran</PresentationFormat>
  <Paragraphs>43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Office Theme</vt:lpstr>
      <vt:lpstr>Approach</vt:lpstr>
      <vt:lpstr>Regular Expression</vt:lpstr>
      <vt:lpstr>Performance</vt:lpstr>
      <vt:lpstr>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Wiley, Laura</dc:creator>
  <cp:lastModifiedBy>Alice DESCHODT</cp:lastModifiedBy>
  <cp:revision>17</cp:revision>
  <dcterms:created xsi:type="dcterms:W3CDTF">2018-03-02T05:37:34Z</dcterms:created>
  <dcterms:modified xsi:type="dcterms:W3CDTF">2025-11-10T11:01:21Z</dcterms:modified>
</cp:coreProperties>
</file>